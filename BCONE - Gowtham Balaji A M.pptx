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41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87FF"/>
    <a:srgbClr val="6666FF"/>
    <a:srgbClr val="4747FF"/>
    <a:srgbClr val="9999FF"/>
    <a:srgbClr val="307FE2"/>
    <a:srgbClr val="6565FF"/>
    <a:srgbClr val="7D7DFF"/>
    <a:srgbClr val="00ABC7"/>
    <a:srgbClr val="E9F0FB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fiya Najath S" userId="cdc05ad7-38bc-4e8a-b4f7-baf85bf52b73" providerId="ADAL" clId="{EFA8C366-67FC-4BAA-B858-39E39D11BDDE}"/>
    <pc:docChg chg="modSld">
      <pc:chgData name="Safiya Najath S" userId="cdc05ad7-38bc-4e8a-b4f7-baf85bf52b73" providerId="ADAL" clId="{EFA8C366-67FC-4BAA-B858-39E39D11BDDE}" dt="2025-05-13T05:31:18.608" v="68" actId="20577"/>
      <pc:docMkLst>
        <pc:docMk/>
      </pc:docMkLst>
      <pc:sldChg chg="modSp mod">
        <pc:chgData name="Safiya Najath S" userId="cdc05ad7-38bc-4e8a-b4f7-baf85bf52b73" providerId="ADAL" clId="{EFA8C366-67FC-4BAA-B858-39E39D11BDDE}" dt="2025-05-13T05:31:18.608" v="68" actId="20577"/>
        <pc:sldMkLst>
          <pc:docMk/>
          <pc:sldMk cId="984345055" sldId="418"/>
        </pc:sldMkLst>
        <pc:spChg chg="mod">
          <ac:chgData name="Safiya Najath S" userId="cdc05ad7-38bc-4e8a-b4f7-baf85bf52b73" providerId="ADAL" clId="{EFA8C366-67FC-4BAA-B858-39E39D11BDDE}" dt="2025-05-13T05:30:40.363" v="6" actId="20577"/>
          <ac:spMkLst>
            <pc:docMk/>
            <pc:sldMk cId="984345055" sldId="418"/>
            <ac:spMk id="10" creationId="{54C5D98C-2D17-4E0A-A77E-1EF485FAE74B}"/>
          </ac:spMkLst>
        </pc:spChg>
        <pc:spChg chg="mod">
          <ac:chgData name="Safiya Najath S" userId="cdc05ad7-38bc-4e8a-b4f7-baf85bf52b73" providerId="ADAL" clId="{EFA8C366-67FC-4BAA-B858-39E39D11BDDE}" dt="2025-05-13T05:31:18.608" v="68" actId="20577"/>
          <ac:spMkLst>
            <pc:docMk/>
            <pc:sldMk cId="984345055" sldId="418"/>
            <ac:spMk id="13" creationId="{175A7436-E949-48D0-A088-18EAD28AB16E}"/>
          </ac:spMkLst>
        </pc:spChg>
      </pc:sldChg>
    </pc:docChg>
  </pc:docChgLst>
  <pc:docChgLst>
    <pc:chgData name="Safiya Najath S" userId="cdc05ad7-38bc-4e8a-b4f7-baf85bf52b73" providerId="ADAL" clId="{4761DE82-55F1-4176-A798-64EBFF36A005}"/>
    <pc:docChg chg="modSld">
      <pc:chgData name="Safiya Najath S" userId="cdc05ad7-38bc-4e8a-b4f7-baf85bf52b73" providerId="ADAL" clId="{4761DE82-55F1-4176-A798-64EBFF36A005}" dt="2024-12-13T08:55:51.011" v="42" actId="20577"/>
      <pc:docMkLst>
        <pc:docMk/>
      </pc:docMkLst>
      <pc:sldChg chg="modSp mod">
        <pc:chgData name="Safiya Najath S" userId="cdc05ad7-38bc-4e8a-b4f7-baf85bf52b73" providerId="ADAL" clId="{4761DE82-55F1-4176-A798-64EBFF36A005}" dt="2024-12-13T08:55:51.011" v="42" actId="20577"/>
        <pc:sldMkLst>
          <pc:docMk/>
          <pc:sldMk cId="984345055" sldId="4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8CD1E-FC92-4EB9-8840-769F76D0A8EF}" type="datetimeFigureOut">
              <a:rPr lang="en-IN" smtClean="0"/>
              <a:pPr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46E8B-0163-4EB1-A36A-EBBDC3DAABF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64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blank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60835BE-7AF2-4CA7-A15C-705A90C08BF6}"/>
              </a:ext>
            </a:extLst>
          </p:cNvPr>
          <p:cNvSpPr/>
          <p:nvPr userDrawn="1"/>
        </p:nvSpPr>
        <p:spPr>
          <a:xfrm rot="20177383">
            <a:off x="-390181" y="-397692"/>
            <a:ext cx="2959215" cy="1752097"/>
          </a:xfrm>
          <a:custGeom>
            <a:avLst/>
            <a:gdLst>
              <a:gd name="connsiteX0" fmla="*/ 674493 w 2959215"/>
              <a:gd name="connsiteY0" fmla="*/ 0 h 1752097"/>
              <a:gd name="connsiteX1" fmla="*/ 2959215 w 2959215"/>
              <a:gd name="connsiteY1" fmla="*/ 1003412 h 1752097"/>
              <a:gd name="connsiteX2" fmla="*/ 2955402 w 2959215"/>
              <a:gd name="connsiteY2" fmla="*/ 1009796 h 1752097"/>
              <a:gd name="connsiteX3" fmla="*/ 1127957 w 2959215"/>
              <a:gd name="connsiteY3" fmla="*/ 1752097 h 1752097"/>
              <a:gd name="connsiteX4" fmla="*/ 19074 w 2959215"/>
              <a:gd name="connsiteY4" fmla="*/ 1544529 h 1752097"/>
              <a:gd name="connsiteX5" fmla="*/ 0 w 2959215"/>
              <a:gd name="connsiteY5" fmla="*/ 1535788 h 1752097"/>
              <a:gd name="connsiteX6" fmla="*/ 674493 w 2959215"/>
              <a:gd name="connsiteY6" fmla="*/ 0 h 1752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59215" h="1752097">
                <a:moveTo>
                  <a:pt x="674493" y="0"/>
                </a:moveTo>
                <a:lnTo>
                  <a:pt x="2959215" y="1003412"/>
                </a:lnTo>
                <a:lnTo>
                  <a:pt x="2955402" y="1009796"/>
                </a:lnTo>
                <a:cubicBezTo>
                  <a:pt x="2654319" y="1446015"/>
                  <a:pt x="1949467" y="1752097"/>
                  <a:pt x="1127957" y="1752097"/>
                </a:cubicBezTo>
                <a:cubicBezTo>
                  <a:pt x="717202" y="1752098"/>
                  <a:pt x="335612" y="1675577"/>
                  <a:pt x="19074" y="1544529"/>
                </a:cubicBezTo>
                <a:lnTo>
                  <a:pt x="0" y="1535788"/>
                </a:lnTo>
                <a:lnTo>
                  <a:pt x="67449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0DAAAED-8E29-4163-B116-B249929D603D}"/>
              </a:ext>
            </a:extLst>
          </p:cNvPr>
          <p:cNvSpPr/>
          <p:nvPr userDrawn="1"/>
        </p:nvSpPr>
        <p:spPr>
          <a:xfrm>
            <a:off x="7676536" y="3371884"/>
            <a:ext cx="4515465" cy="3486117"/>
          </a:xfrm>
          <a:custGeom>
            <a:avLst/>
            <a:gdLst>
              <a:gd name="connsiteX0" fmla="*/ 2739513 w 4515465"/>
              <a:gd name="connsiteY0" fmla="*/ 0 h 3486117"/>
              <a:gd name="connsiteX1" fmla="*/ 4482098 w 4515465"/>
              <a:gd name="connsiteY1" fmla="*/ 625572 h 3486117"/>
              <a:gd name="connsiteX2" fmla="*/ 4515465 w 4515465"/>
              <a:gd name="connsiteY2" fmla="*/ 655898 h 3486117"/>
              <a:gd name="connsiteX3" fmla="*/ 4515465 w 4515465"/>
              <a:gd name="connsiteY3" fmla="*/ 3486117 h 3486117"/>
              <a:gd name="connsiteX4" fmla="*/ 105668 w 4515465"/>
              <a:gd name="connsiteY4" fmla="*/ 3486117 h 3486117"/>
              <a:gd name="connsiteX5" fmla="*/ 55657 w 4515465"/>
              <a:gd name="connsiteY5" fmla="*/ 3291620 h 3486117"/>
              <a:gd name="connsiteX6" fmla="*/ 0 w 4515465"/>
              <a:gd name="connsiteY6" fmla="*/ 2739513 h 3486117"/>
              <a:gd name="connsiteX7" fmla="*/ 2739513 w 4515465"/>
              <a:gd name="connsiteY7" fmla="*/ 0 h 3486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15465" h="3486117">
                <a:moveTo>
                  <a:pt x="2739513" y="0"/>
                </a:moveTo>
                <a:cubicBezTo>
                  <a:pt x="3401447" y="0"/>
                  <a:pt x="4008548" y="234764"/>
                  <a:pt x="4482098" y="625572"/>
                </a:cubicBezTo>
                <a:lnTo>
                  <a:pt x="4515465" y="655898"/>
                </a:lnTo>
                <a:lnTo>
                  <a:pt x="4515465" y="3486117"/>
                </a:lnTo>
                <a:lnTo>
                  <a:pt x="105668" y="3486117"/>
                </a:lnTo>
                <a:lnTo>
                  <a:pt x="55657" y="3291620"/>
                </a:lnTo>
                <a:cubicBezTo>
                  <a:pt x="19165" y="3113285"/>
                  <a:pt x="0" y="2928637"/>
                  <a:pt x="0" y="2739513"/>
                </a:cubicBezTo>
                <a:cubicBezTo>
                  <a:pt x="0" y="1226522"/>
                  <a:pt x="1226522" y="0"/>
                  <a:pt x="273951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9745A8-BC07-467C-B037-D3B0CC260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144" y="210489"/>
            <a:ext cx="1538789" cy="17478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1AC55F-29E9-4072-84CC-A8F892584F3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39713" y="211138"/>
            <a:ext cx="1828800" cy="1828800"/>
          </a:xfrm>
          <a:prstGeom prst="rect">
            <a:avLst/>
          </a:prstGeom>
          <a:ln w="285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r>
              <a:rPr lang="en-US" dirty="0"/>
              <a:t>Insert your professional photograph here size - 2" x 2"</a:t>
            </a:r>
          </a:p>
        </p:txBody>
      </p:sp>
    </p:spTree>
    <p:extLst>
      <p:ext uri="{BB962C8B-B14F-4D97-AF65-F5344CB8AC3E}">
        <p14:creationId xmlns:p14="http://schemas.microsoft.com/office/powerpoint/2010/main" val="70816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5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0">
            <a:extLst>
              <a:ext uri="{FF2B5EF4-FFF2-40B4-BE49-F238E27FC236}">
                <a16:creationId xmlns:a16="http://schemas.microsoft.com/office/drawing/2014/main" id="{560B41A6-EA0A-4CC1-8113-B92EC451BEA5}"/>
              </a:ext>
            </a:extLst>
          </p:cNvPr>
          <p:cNvSpPr txBox="1">
            <a:spLocks/>
          </p:cNvSpPr>
          <p:nvPr/>
        </p:nvSpPr>
        <p:spPr>
          <a:xfrm>
            <a:off x="2440809" y="3892373"/>
            <a:ext cx="3000472" cy="1461243"/>
          </a:xfrm>
          <a:prstGeom prst="rect">
            <a:avLst/>
          </a:prstGeom>
          <a:solidFill>
            <a:schemeClr val="bg1">
              <a:alpha val="9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Education: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Bachelor of Technology (IT).</a:t>
            </a:r>
            <a:endParaRPr lang="en-US" sz="1300" b="1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Certifications/Training:</a:t>
            </a: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Completed (DevOps- Ansible , Docker, GenAI) Training.​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0E5DD5-F653-4BA9-8217-324DE4450020}"/>
              </a:ext>
            </a:extLst>
          </p:cNvPr>
          <p:cNvSpPr/>
          <p:nvPr/>
        </p:nvSpPr>
        <p:spPr>
          <a:xfrm>
            <a:off x="2455262" y="3587350"/>
            <a:ext cx="3017520" cy="274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Education &amp; Certification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5A43A4-3B57-48AE-8BCD-858030A3345A}"/>
              </a:ext>
            </a:extLst>
          </p:cNvPr>
          <p:cNvSpPr/>
          <p:nvPr/>
        </p:nvSpPr>
        <p:spPr>
          <a:xfrm>
            <a:off x="2457153" y="589407"/>
            <a:ext cx="2984128" cy="27554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Skills &amp; Competencies</a:t>
            </a:r>
          </a:p>
        </p:txBody>
      </p:sp>
      <p:sp>
        <p:nvSpPr>
          <p:cNvPr id="10" name="Text Placeholder 50">
            <a:extLst>
              <a:ext uri="{FF2B5EF4-FFF2-40B4-BE49-F238E27FC236}">
                <a16:creationId xmlns:a16="http://schemas.microsoft.com/office/drawing/2014/main" id="{54C5D98C-2D17-4E0A-A77E-1EF485FAE74B}"/>
              </a:ext>
            </a:extLst>
          </p:cNvPr>
          <p:cNvSpPr txBox="1">
            <a:spLocks/>
          </p:cNvSpPr>
          <p:nvPr/>
        </p:nvSpPr>
        <p:spPr>
          <a:xfrm>
            <a:off x="2447856" y="865106"/>
            <a:ext cx="2984128" cy="2699788"/>
          </a:xfrm>
          <a:prstGeom prst="rect">
            <a:avLst/>
          </a:prstGeom>
          <a:solidFill>
            <a:schemeClr val="bg1">
              <a:alpha val="9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/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Programming &amp; Frameworks: 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Python, PHP, NodeJS, React / React Native</a:t>
            </a:r>
          </a:p>
          <a:p>
            <a:pPr marL="177800" indent="-177800"/>
            <a:r>
              <a:rPr lang="en-IN" sz="13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Databases:</a:t>
            </a: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 MySQL, PostgreSQL, MongoDB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marL="177800" indent="-177800"/>
            <a:r>
              <a:rPr lang="en-IN" sz="13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DevOps &amp; Automation: </a:t>
            </a: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Docker, Ansible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  <a:p>
            <a:pPr marL="177800" indent="-177800"/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Delivery &amp; Methodologies: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 Agile / Scrum, SDLC, Performance Optimization</a:t>
            </a:r>
          </a:p>
          <a:p>
            <a:pPr marL="177800" indent="-177800"/>
            <a:r>
              <a:rPr lang="en-US" sz="13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Leadership &amp; Client Engagement: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 Technical Leadership, Team Mentoring, Stakeholder Management, Client Engagement</a:t>
            </a:r>
            <a:r>
              <a:rPr lang="en-US" sz="13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CFB837-1B83-439F-B92F-5B029788C60C}"/>
              </a:ext>
            </a:extLst>
          </p:cNvPr>
          <p:cNvSpPr/>
          <p:nvPr/>
        </p:nvSpPr>
        <p:spPr>
          <a:xfrm>
            <a:off x="2411293" y="5259962"/>
            <a:ext cx="3017520" cy="274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Industries</a:t>
            </a:r>
          </a:p>
        </p:txBody>
      </p:sp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F2D04A2B-FC9D-4D6F-BA08-497A7EA4E797}"/>
              </a:ext>
            </a:extLst>
          </p:cNvPr>
          <p:cNvSpPr txBox="1">
            <a:spLocks/>
          </p:cNvSpPr>
          <p:nvPr/>
        </p:nvSpPr>
        <p:spPr>
          <a:xfrm>
            <a:off x="2383743" y="5556738"/>
            <a:ext cx="3017520" cy="1183035"/>
          </a:xfrm>
          <a:prstGeom prst="rect">
            <a:avLst/>
          </a:prstGeom>
          <a:solidFill>
            <a:schemeClr val="bg1">
              <a:alpha val="9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anchor="ctr"/>
          <a:lstStyle>
            <a:defPPr>
              <a:defRPr lang="en-US"/>
            </a:defPPr>
            <a:lvl1pPr marL="182880" indent="-1828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+mj-l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+mj-l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+mj-l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200" dirty="0"/>
              <a:t>Information Technology</a:t>
            </a:r>
          </a:p>
          <a:p>
            <a:r>
              <a:rPr lang="en-US" sz="1200" dirty="0"/>
              <a:t>Edtech Services</a:t>
            </a:r>
          </a:p>
          <a:p>
            <a:r>
              <a:rPr lang="en-US" sz="1200" dirty="0"/>
              <a:t>Digitization</a:t>
            </a:r>
          </a:p>
          <a:p>
            <a:r>
              <a:rPr lang="en-US" sz="1200" dirty="0"/>
              <a:t>Retail</a:t>
            </a:r>
          </a:p>
          <a:p>
            <a:r>
              <a:rPr lang="en-US" sz="1200" dirty="0"/>
              <a:t>B2B</a:t>
            </a:r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175A7436-E949-48D0-A088-18EAD28AB16E}"/>
              </a:ext>
            </a:extLst>
          </p:cNvPr>
          <p:cNvSpPr txBox="1">
            <a:spLocks/>
          </p:cNvSpPr>
          <p:nvPr/>
        </p:nvSpPr>
        <p:spPr>
          <a:xfrm>
            <a:off x="5534131" y="3293062"/>
            <a:ext cx="6508705" cy="3529308"/>
          </a:xfrm>
          <a:prstGeom prst="roundRect">
            <a:avLst>
              <a:gd name="adj" fmla="val 2413"/>
            </a:avLst>
          </a:prstGeom>
          <a:solidFill>
            <a:schemeClr val="bg1">
              <a:alpha val="9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Served as </a:t>
            </a:r>
            <a:r>
              <a:rPr lang="en-US" b="1" dirty="0">
                <a:solidFill>
                  <a:schemeClr val="tx1"/>
                </a:solidFill>
              </a:rPr>
              <a:t>Technical Lead </a:t>
            </a:r>
            <a:r>
              <a:rPr lang="en-US" dirty="0">
                <a:solidFill>
                  <a:schemeClr val="tx1"/>
                </a:solidFill>
              </a:rPr>
              <a:t>within the ISE team, driving core </a:t>
            </a:r>
            <a:r>
              <a:rPr lang="en-US" b="1" dirty="0">
                <a:solidFill>
                  <a:schemeClr val="tx1"/>
                </a:solidFill>
              </a:rPr>
              <a:t>PHP/Python backend development </a:t>
            </a:r>
            <a:r>
              <a:rPr lang="en-US" dirty="0">
                <a:solidFill>
                  <a:schemeClr val="tx1"/>
                </a:solidFill>
              </a:rPr>
              <a:t>and end-to-end delivery </a:t>
            </a:r>
            <a:r>
              <a:rPr lang="en-US" u="sng" dirty="0">
                <a:solidFill>
                  <a:schemeClr val="tx1"/>
                </a:solidFill>
              </a:rPr>
              <a:t>for KELVIN and RENAISSANCE</a:t>
            </a:r>
            <a:r>
              <a:rPr lang="en-US" dirty="0">
                <a:solidFill>
                  <a:schemeClr val="tx1"/>
                </a:solidFill>
              </a:rPr>
              <a:t>, while acting as </a:t>
            </a:r>
            <a:r>
              <a:rPr lang="en-US" b="1" dirty="0">
                <a:solidFill>
                  <a:schemeClr val="tx1"/>
                </a:solidFill>
              </a:rPr>
              <a:t>the primary client-facing technical contact.</a:t>
            </a:r>
          </a:p>
          <a:p>
            <a:r>
              <a:rPr lang="en-US" dirty="0">
                <a:solidFill>
                  <a:schemeClr val="tx1"/>
                </a:solidFill>
              </a:rPr>
              <a:t>Led </a:t>
            </a:r>
            <a:r>
              <a:rPr lang="en-US" b="1" dirty="0">
                <a:solidFill>
                  <a:schemeClr val="tx1"/>
                </a:solidFill>
              </a:rPr>
              <a:t>performance optimization </a:t>
            </a:r>
            <a:r>
              <a:rPr lang="en-US" dirty="0">
                <a:solidFill>
                  <a:schemeClr val="tx1"/>
                </a:solidFill>
              </a:rPr>
              <a:t>initiatives through backend and database query enhancements, significantly improving application responsiveness and stability.</a:t>
            </a:r>
          </a:p>
          <a:p>
            <a:r>
              <a:rPr lang="en-US" dirty="0">
                <a:solidFill>
                  <a:schemeClr val="tx1"/>
                </a:solidFill>
              </a:rPr>
              <a:t>Coordinated </a:t>
            </a:r>
            <a:r>
              <a:rPr lang="en-US" b="1" dirty="0">
                <a:solidFill>
                  <a:schemeClr val="tx1"/>
                </a:solidFill>
              </a:rPr>
              <a:t>cross-functional teams</a:t>
            </a:r>
            <a:r>
              <a:rPr lang="en-US" dirty="0">
                <a:solidFill>
                  <a:schemeClr val="tx1"/>
                </a:solidFill>
              </a:rPr>
              <a:t>, planned and prioritized deliverables, and </a:t>
            </a:r>
            <a:r>
              <a:rPr lang="en-US" b="1" dirty="0">
                <a:solidFill>
                  <a:schemeClr val="tx1"/>
                </a:solidFill>
              </a:rPr>
              <a:t>mentored engineers</a:t>
            </a:r>
            <a:r>
              <a:rPr lang="en-US" dirty="0">
                <a:solidFill>
                  <a:schemeClr val="tx1"/>
                </a:solidFill>
              </a:rPr>
              <a:t> through code reviews and best practices to ensure high-quality, on-time delivery.</a:t>
            </a:r>
          </a:p>
          <a:p>
            <a:r>
              <a:rPr lang="en-US" dirty="0">
                <a:solidFill>
                  <a:schemeClr val="tx1"/>
                </a:solidFill>
              </a:rPr>
              <a:t>Designed and implemented a secure </a:t>
            </a:r>
            <a:r>
              <a:rPr lang="en-US" b="1" dirty="0">
                <a:solidFill>
                  <a:schemeClr val="tx1"/>
                </a:solidFill>
              </a:rPr>
              <a:t>Python-based Kafka pipeline </a:t>
            </a:r>
            <a:r>
              <a:rPr lang="en-US" dirty="0">
                <a:solidFill>
                  <a:schemeClr val="tx1"/>
                </a:solidFill>
              </a:rPr>
              <a:t>to automate large file processing </a:t>
            </a:r>
            <a:r>
              <a:rPr lang="en-US" u="sng" dirty="0">
                <a:solidFill>
                  <a:schemeClr val="tx1"/>
                </a:solidFill>
              </a:rPr>
              <a:t>for THE HINDU </a:t>
            </a:r>
            <a:r>
              <a:rPr lang="en-US" dirty="0">
                <a:solidFill>
                  <a:schemeClr val="tx1"/>
                </a:solidFill>
              </a:rPr>
              <a:t>content digitization workflows.</a:t>
            </a:r>
          </a:p>
          <a:p>
            <a:r>
              <a:rPr lang="en-US" dirty="0">
                <a:solidFill>
                  <a:schemeClr val="tx1"/>
                </a:solidFill>
              </a:rPr>
              <a:t>Implemented </a:t>
            </a:r>
            <a:r>
              <a:rPr lang="en-US" b="1" dirty="0">
                <a:solidFill>
                  <a:schemeClr val="tx1"/>
                </a:solidFill>
              </a:rPr>
              <a:t>10+ payment gateway integrations</a:t>
            </a:r>
            <a:r>
              <a:rPr lang="en-US" dirty="0">
                <a:solidFill>
                  <a:schemeClr val="tx1"/>
                </a:solidFill>
              </a:rPr>
              <a:t>, including cryptocurrency payments with IPN tracking, </a:t>
            </a:r>
            <a:r>
              <a:rPr lang="en-US" u="sng" dirty="0">
                <a:solidFill>
                  <a:schemeClr val="tx1"/>
                </a:solidFill>
              </a:rPr>
              <a:t>for MLM platforms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Developed time-zone–aware </a:t>
            </a:r>
            <a:r>
              <a:rPr lang="en-US" b="1" dirty="0">
                <a:solidFill>
                  <a:schemeClr val="tx1"/>
                </a:solidFill>
              </a:rPr>
              <a:t>Scheduling and POS systems </a:t>
            </a: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u="sng" dirty="0">
                <a:solidFill>
                  <a:schemeClr val="tx1"/>
                </a:solidFill>
              </a:rPr>
              <a:t>KSA clients</a:t>
            </a:r>
            <a:r>
              <a:rPr lang="en-US" dirty="0">
                <a:solidFill>
                  <a:schemeClr val="tx1"/>
                </a:solidFill>
              </a:rPr>
              <a:t>, supporting multi-region business operations.</a:t>
            </a:r>
          </a:p>
          <a:p>
            <a:r>
              <a:rPr lang="en-US" dirty="0">
                <a:solidFill>
                  <a:schemeClr val="tx1"/>
                </a:solidFill>
              </a:rPr>
              <a:t>Built </a:t>
            </a:r>
            <a:r>
              <a:rPr lang="en-US" b="1" dirty="0">
                <a:solidFill>
                  <a:schemeClr val="tx1"/>
                </a:solidFill>
              </a:rPr>
              <a:t>NodeJS RESTful APIs </a:t>
            </a:r>
            <a:r>
              <a:rPr lang="en-US" dirty="0">
                <a:solidFill>
                  <a:schemeClr val="tx1"/>
                </a:solidFill>
              </a:rPr>
              <a:t>for a large-scale classified platform (</a:t>
            </a:r>
            <a:r>
              <a:rPr lang="en-US" dirty="0" err="1">
                <a:solidFill>
                  <a:schemeClr val="tx1"/>
                </a:solidFill>
              </a:rPr>
              <a:t>AJSquare</a:t>
            </a:r>
            <a:r>
              <a:rPr lang="en-US" dirty="0">
                <a:solidFill>
                  <a:schemeClr val="tx1"/>
                </a:solidFill>
              </a:rPr>
              <a:t>) and a Python automation tool to generate PDF summaries from database records.</a:t>
            </a:r>
          </a:p>
          <a:p>
            <a:r>
              <a:rPr lang="en-US" dirty="0">
                <a:solidFill>
                  <a:schemeClr val="tx1"/>
                </a:solidFill>
              </a:rPr>
              <a:t>Partnered with business stakeholders to convert functional requirements into technical roadmaps, balancing scope, timelines, and delivery risks.</a:t>
            </a:r>
          </a:p>
          <a:p>
            <a:r>
              <a:rPr lang="en-US" dirty="0">
                <a:solidFill>
                  <a:schemeClr val="tx1"/>
                </a:solidFill>
              </a:rPr>
              <a:t>Provided regular delivery status updates, risk visibility, and mitigation plans to clients and internal stakeholders.</a:t>
            </a:r>
            <a:endParaRPr lang="en-IN" dirty="0">
              <a:solidFill>
                <a:schemeClr val="tx1"/>
              </a:solidFill>
            </a:endParaRPr>
          </a:p>
          <a:p>
            <a:pPr marL="91440"/>
            <a:endParaRPr lang="en-IN" dirty="0"/>
          </a:p>
          <a:p>
            <a:pPr marL="91440"/>
            <a:endParaRPr lang="en-IN" u="sng" dirty="0"/>
          </a:p>
          <a:p>
            <a:pPr marL="91440"/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6D9B41-C430-4721-921D-504DE124AA48}"/>
              </a:ext>
            </a:extLst>
          </p:cNvPr>
          <p:cNvSpPr/>
          <p:nvPr/>
        </p:nvSpPr>
        <p:spPr>
          <a:xfrm>
            <a:off x="5546447" y="3083269"/>
            <a:ext cx="6358219" cy="274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Project Experiences</a:t>
            </a:r>
          </a:p>
        </p:txBody>
      </p:sp>
      <p:sp>
        <p:nvSpPr>
          <p:cNvPr id="21" name="Text Placeholder 50">
            <a:extLst>
              <a:ext uri="{FF2B5EF4-FFF2-40B4-BE49-F238E27FC236}">
                <a16:creationId xmlns:a16="http://schemas.microsoft.com/office/drawing/2014/main" id="{13A87B98-F92D-49B0-B844-8E51320BEE57}"/>
              </a:ext>
            </a:extLst>
          </p:cNvPr>
          <p:cNvSpPr txBox="1">
            <a:spLocks/>
          </p:cNvSpPr>
          <p:nvPr/>
        </p:nvSpPr>
        <p:spPr>
          <a:xfrm>
            <a:off x="184889" y="5574094"/>
            <a:ext cx="1821042" cy="1517450"/>
          </a:xfrm>
          <a:prstGeom prst="rect">
            <a:avLst/>
          </a:prstGeom>
          <a:noFill/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en-US" dirty="0"/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5893FAF-6E38-42E3-B2B0-6CA6E66D8B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478699" y="617546"/>
            <a:ext cx="228600" cy="228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A04817-CD42-4088-9368-3300CB89BA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447856" y="3367686"/>
            <a:ext cx="228600" cy="228600"/>
          </a:xfrm>
          <a:prstGeom prst="rect">
            <a:avLst/>
          </a:prstGeom>
        </p:spPr>
      </p:pic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263D5897-9A0E-42D4-A2B4-F404F268DBBB}"/>
              </a:ext>
            </a:extLst>
          </p:cNvPr>
          <p:cNvSpPr txBox="1">
            <a:spLocks/>
          </p:cNvSpPr>
          <p:nvPr/>
        </p:nvSpPr>
        <p:spPr>
          <a:xfrm>
            <a:off x="11366500" y="6615995"/>
            <a:ext cx="596903" cy="20637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800" smtClean="0"/>
              <a:pPr/>
              <a:t>1</a:t>
            </a:fld>
            <a:endParaRPr lang="en-US" sz="80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43B7B0F-5B96-4795-9EAC-B56DE17C50E2}"/>
              </a:ext>
            </a:extLst>
          </p:cNvPr>
          <p:cNvSpPr/>
          <p:nvPr/>
        </p:nvSpPr>
        <p:spPr>
          <a:xfrm>
            <a:off x="5633109" y="509599"/>
            <a:ext cx="6358287" cy="215294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algn="l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Professional Career</a:t>
            </a:r>
          </a:p>
        </p:txBody>
      </p:sp>
      <p:sp>
        <p:nvSpPr>
          <p:cNvPr id="36" name="Text Placeholder 50">
            <a:extLst>
              <a:ext uri="{FF2B5EF4-FFF2-40B4-BE49-F238E27FC236}">
                <a16:creationId xmlns:a16="http://schemas.microsoft.com/office/drawing/2014/main" id="{768B2464-A1BD-415F-9D19-133F3FC150B5}"/>
              </a:ext>
            </a:extLst>
          </p:cNvPr>
          <p:cNvSpPr txBox="1">
            <a:spLocks/>
          </p:cNvSpPr>
          <p:nvPr/>
        </p:nvSpPr>
        <p:spPr>
          <a:xfrm>
            <a:off x="5588068" y="724893"/>
            <a:ext cx="6467084" cy="2299356"/>
          </a:xfrm>
          <a:prstGeom prst="roundRect">
            <a:avLst>
              <a:gd name="adj" fmla="val 1864"/>
            </a:avLst>
          </a:prstGeom>
          <a:solidFill>
            <a:schemeClr val="bg1">
              <a:alpha val="9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9 years of professional IT experience</a:t>
            </a:r>
            <a:r>
              <a:rPr lang="en-US" dirty="0">
                <a:solidFill>
                  <a:schemeClr val="tx1"/>
                </a:solidFill>
              </a:rPr>
              <a:t>, including </a:t>
            </a:r>
            <a:r>
              <a:rPr lang="en-US" b="1" dirty="0">
                <a:solidFill>
                  <a:schemeClr val="tx1"/>
                </a:solidFill>
              </a:rPr>
              <a:t>5 years at Bristlecone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4 years across multiple organizations</a:t>
            </a:r>
            <a:r>
              <a:rPr lang="en-US" dirty="0">
                <a:solidFill>
                  <a:schemeClr val="tx1"/>
                </a:solidFill>
              </a:rPr>
              <a:t>, delivering enterprise-grade software solutions.</a:t>
            </a:r>
          </a:p>
          <a:p>
            <a:r>
              <a:rPr lang="en-US" dirty="0">
                <a:solidFill>
                  <a:schemeClr val="tx1"/>
                </a:solidFill>
              </a:rPr>
              <a:t>Delivered technology solutions across diverse industries including </a:t>
            </a:r>
            <a:r>
              <a:rPr lang="en-US" b="1" dirty="0">
                <a:solidFill>
                  <a:schemeClr val="tx1"/>
                </a:solidFill>
              </a:rPr>
              <a:t>Education, MLM, Travel, Retail, Automotive, and enterprise digitization initiatives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Demonstrated expertise in </a:t>
            </a:r>
            <a:r>
              <a:rPr lang="en-US" b="1" dirty="0">
                <a:solidFill>
                  <a:schemeClr val="tx1"/>
                </a:solidFill>
              </a:rPr>
              <a:t>designing and delivering large-scale, high-availability web applications</a:t>
            </a:r>
            <a:r>
              <a:rPr lang="en-US" dirty="0">
                <a:solidFill>
                  <a:schemeClr val="tx1"/>
                </a:solidFill>
              </a:rPr>
              <a:t> supporting complex business-critical workflows.</a:t>
            </a:r>
          </a:p>
          <a:p>
            <a:r>
              <a:rPr lang="en-US" dirty="0">
                <a:solidFill>
                  <a:schemeClr val="tx1"/>
                </a:solidFill>
              </a:rPr>
              <a:t>Strong understanding of </a:t>
            </a:r>
            <a:r>
              <a:rPr lang="en-US" b="1" dirty="0">
                <a:solidFill>
                  <a:schemeClr val="tx1"/>
                </a:solidFill>
              </a:rPr>
              <a:t>cloud-based software development life cycles</a:t>
            </a:r>
            <a:r>
              <a:rPr lang="en-US" dirty="0">
                <a:solidFill>
                  <a:schemeClr val="tx1"/>
                </a:solidFill>
              </a:rPr>
              <a:t>, with hands-on experience across </a:t>
            </a:r>
            <a:r>
              <a:rPr lang="en-US" b="1" dirty="0">
                <a:solidFill>
                  <a:schemeClr val="tx1"/>
                </a:solidFill>
              </a:rPr>
              <a:t>Waterfall, Agile, and Kanban</a:t>
            </a:r>
            <a:r>
              <a:rPr lang="en-US" dirty="0">
                <a:solidFill>
                  <a:schemeClr val="tx1"/>
                </a:solidFill>
              </a:rPr>
              <a:t> delivery models.</a:t>
            </a:r>
          </a:p>
          <a:p>
            <a:r>
              <a:rPr lang="en-US" dirty="0">
                <a:solidFill>
                  <a:schemeClr val="tx1"/>
                </a:solidFill>
              </a:rPr>
              <a:t>Proven experience in </a:t>
            </a:r>
            <a:r>
              <a:rPr lang="en-US" b="1" dirty="0">
                <a:solidFill>
                  <a:schemeClr val="tx1"/>
                </a:solidFill>
              </a:rPr>
              <a:t>technical project leadership</a:t>
            </a:r>
            <a:r>
              <a:rPr lang="en-US" dirty="0">
                <a:solidFill>
                  <a:schemeClr val="tx1"/>
                </a:solidFill>
              </a:rPr>
              <a:t>, serving as a </a:t>
            </a:r>
            <a:r>
              <a:rPr lang="en-US" b="1" dirty="0">
                <a:solidFill>
                  <a:schemeClr val="tx1"/>
                </a:solidFill>
              </a:rPr>
              <a:t>client-facing lead</a:t>
            </a:r>
            <a:r>
              <a:rPr lang="en-US" dirty="0">
                <a:solidFill>
                  <a:schemeClr val="tx1"/>
                </a:solidFill>
              </a:rPr>
              <a:t>, mentoring teams, and translating business requirements into effective technical solutions.</a:t>
            </a:r>
          </a:p>
          <a:p>
            <a:r>
              <a:rPr lang="en-US" b="1" dirty="0">
                <a:solidFill>
                  <a:schemeClr val="tx1"/>
                </a:solidFill>
              </a:rPr>
              <a:t>Owned end-to-end project execution</a:t>
            </a:r>
            <a:r>
              <a:rPr lang="en-US" dirty="0">
                <a:solidFill>
                  <a:schemeClr val="tx1"/>
                </a:solidFill>
              </a:rPr>
              <a:t>, ensuring alignment between scope, timelines, quality, and stakeholder expectations while driving successful delivery outcomes.</a:t>
            </a:r>
          </a:p>
          <a:p>
            <a:pPr marL="0" indent="0">
              <a:buNone/>
            </a:pP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0" name="Text Placeholder 50">
            <a:extLst>
              <a:ext uri="{FF2B5EF4-FFF2-40B4-BE49-F238E27FC236}">
                <a16:creationId xmlns:a16="http://schemas.microsoft.com/office/drawing/2014/main" id="{1051DB29-4957-4C3A-9E1F-0A50DE023BD9}"/>
              </a:ext>
            </a:extLst>
          </p:cNvPr>
          <p:cNvSpPr txBox="1">
            <a:spLocks/>
          </p:cNvSpPr>
          <p:nvPr/>
        </p:nvSpPr>
        <p:spPr>
          <a:xfrm>
            <a:off x="237886" y="2612536"/>
            <a:ext cx="1858316" cy="1999022"/>
          </a:xfrm>
          <a:prstGeom prst="rect">
            <a:avLst/>
          </a:prstGeom>
          <a:noFill/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9+ years of professional IT experience</a:t>
            </a:r>
            <a:r>
              <a:rPr lang="en-US" dirty="0"/>
              <a:t> with strong expertise in </a:t>
            </a:r>
            <a:r>
              <a:rPr lang="en-US" b="1" dirty="0"/>
              <a:t>PHP, Python, and NodeJS</a:t>
            </a:r>
            <a:r>
              <a:rPr lang="en-US" dirty="0"/>
              <a:t>, and hands-on exposure to </a:t>
            </a:r>
            <a:r>
              <a:rPr lang="en-US" b="1" dirty="0"/>
              <a:t>React</a:t>
            </a:r>
            <a:r>
              <a:rPr lang="en-US" dirty="0"/>
              <a:t>.</a:t>
            </a:r>
            <a:br>
              <a:rPr lang="en-US" dirty="0"/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Overall, 9 years of Professional IT Experience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r>
              <a:rPr lang="en-US" b="1" dirty="0"/>
              <a:t>4+ years of technical leadership experience</a:t>
            </a:r>
            <a:r>
              <a:rPr lang="en-US" dirty="0"/>
              <a:t>, leading teams and engaging directly with clients to deliver business-critical solutions.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CD5983-E58B-4359-BE5F-04563D05DFAF}"/>
              </a:ext>
            </a:extLst>
          </p:cNvPr>
          <p:cNvSpPr/>
          <p:nvPr/>
        </p:nvSpPr>
        <p:spPr>
          <a:xfrm>
            <a:off x="245644" y="2239617"/>
            <a:ext cx="1821042" cy="372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Lead</a:t>
            </a:r>
          </a:p>
          <a:p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ooter Placeholder 5">
            <a:extLst>
              <a:ext uri="{FF2B5EF4-FFF2-40B4-BE49-F238E27FC236}">
                <a16:creationId xmlns:a16="http://schemas.microsoft.com/office/drawing/2014/main" id="{CDAB897C-166D-43B6-AAAC-6ECB112A1AD3}"/>
              </a:ext>
            </a:extLst>
          </p:cNvPr>
          <p:cNvSpPr txBox="1">
            <a:spLocks/>
          </p:cNvSpPr>
          <p:nvPr/>
        </p:nvSpPr>
        <p:spPr>
          <a:xfrm>
            <a:off x="187036" y="6615995"/>
            <a:ext cx="2194560" cy="2063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© 2019 Bristlecone.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59DE3F-6436-4BDD-80F4-3ECFA1667B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60153" y="3104963"/>
            <a:ext cx="228600" cy="2286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B4ACC21-6144-427B-8E6F-C832F702A7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60153" y="538774"/>
            <a:ext cx="228600" cy="228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782E6C6-C6F7-452C-92D6-1EDC92C27B79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3659" y="5304919"/>
            <a:ext cx="201753" cy="22860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F77858-3EDD-45FF-A522-7F58F0E6C4C7}"/>
              </a:ext>
            </a:extLst>
          </p:cNvPr>
          <p:cNvSpPr txBox="1"/>
          <p:nvPr/>
        </p:nvSpPr>
        <p:spPr>
          <a:xfrm>
            <a:off x="217621" y="5498360"/>
            <a:ext cx="1821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gowtham.am@bristlecone.com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3F6C3-BC17-48E4-8972-42736ED07FF1}"/>
              </a:ext>
            </a:extLst>
          </p:cNvPr>
          <p:cNvSpPr txBox="1"/>
          <p:nvPr/>
        </p:nvSpPr>
        <p:spPr>
          <a:xfrm>
            <a:off x="2533659" y="147369"/>
            <a:ext cx="2598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Gowtham Balaji A M</a:t>
            </a:r>
          </a:p>
        </p:txBody>
      </p:sp>
      <p:pic>
        <p:nvPicPr>
          <p:cNvPr id="16" name="Picture 15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B3398ACE-8460-A6B8-F24E-9458EC4417D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44" y="130629"/>
            <a:ext cx="1680807" cy="190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4505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and Thank You slide">
  <a:themeElements>
    <a:clrScheme name="UCT_1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A468D"/>
      </a:accent1>
      <a:accent2>
        <a:srgbClr val="8B8A8D"/>
      </a:accent2>
      <a:accent3>
        <a:srgbClr val="00A7E0"/>
      </a:accent3>
      <a:accent4>
        <a:srgbClr val="00ABC7"/>
      </a:accent4>
      <a:accent5>
        <a:srgbClr val="005F85"/>
      </a:accent5>
      <a:accent6>
        <a:srgbClr val="3FC6C6"/>
      </a:accent6>
      <a:hlink>
        <a:srgbClr val="005F85"/>
      </a:hlink>
      <a:folHlink>
        <a:srgbClr val="F7964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cone_Master_temp_16x9_heavy.pptx" id="{219429E9-4573-4472-89EE-141902B3495D}" vid="{770C99B1-BDF8-4DAA-A8BD-96A9B447B8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839308e8-cdc8-4e69-b65f-87a1d7161af1" xsi:nil="true"/>
    <lcf76f155ced4ddcb4097134ff3c332f xmlns="c7b1600b-1875-4cfe-bf63-0c9feabae46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2C95AB2DD3794A8331DA0F58D260F7" ma:contentTypeVersion="20" ma:contentTypeDescription="Create a new document." ma:contentTypeScope="" ma:versionID="7399e16d4c1c4f027f442390117ba5b6">
  <xsd:schema xmlns:xsd="http://www.w3.org/2001/XMLSchema" xmlns:xs="http://www.w3.org/2001/XMLSchema" xmlns:p="http://schemas.microsoft.com/office/2006/metadata/properties" xmlns:ns1="http://schemas.microsoft.com/sharepoint/v3" xmlns:ns2="c7b1600b-1875-4cfe-bf63-0c9feabae465" xmlns:ns3="839308e8-cdc8-4e69-b65f-87a1d7161af1" targetNamespace="http://schemas.microsoft.com/office/2006/metadata/properties" ma:root="true" ma:fieldsID="62ff2a563aa757bc41ec58156716385b" ns1:_="" ns2:_="" ns3:_="">
    <xsd:import namespace="http://schemas.microsoft.com/sharepoint/v3"/>
    <xsd:import namespace="c7b1600b-1875-4cfe-bf63-0c9feabae465"/>
    <xsd:import namespace="839308e8-cdc8-4e69-b65f-87a1d7161a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1600b-1875-4cfe-bf63-0c9feabae4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9d2465-8f9b-4322-90f8-0c25d1fd69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9308e8-cdc8-4e69-b65f-87a1d7161af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a648f24-c0f9-42e2-b055-1b174775d8f6}" ma:internalName="TaxCatchAll" ma:showField="CatchAllData" ma:web="839308e8-cdc8-4e69-b65f-87a1d7161a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D1894B-864B-45B0-ABF5-7D622C3E14A9}">
  <ds:schemaRefs>
    <ds:schemaRef ds:uri="http://schemas.microsoft.com/office/2006/documentManagement/types"/>
    <ds:schemaRef ds:uri="28efc47e-e2a9-405c-a2f6-a684e4d13bef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2bf50ad9-ed5d-4c3f-a7e8-08dddc9fdc2f"/>
    <ds:schemaRef ds:uri="http://www.w3.org/XML/1998/namespace"/>
    <ds:schemaRef ds:uri="6ac640c6-fc5a-4d15-a008-a08f1378eadb"/>
    <ds:schemaRef ds:uri="http://schemas.microsoft.com/sharepoint/v3"/>
    <ds:schemaRef ds:uri="839308e8-cdc8-4e69-b65f-87a1d7161af1"/>
    <ds:schemaRef ds:uri="c7b1600b-1875-4cfe-bf63-0c9feabae465"/>
  </ds:schemaRefs>
</ds:datastoreItem>
</file>

<file path=customXml/itemProps2.xml><?xml version="1.0" encoding="utf-8"?>
<ds:datastoreItem xmlns:ds="http://schemas.openxmlformats.org/officeDocument/2006/customXml" ds:itemID="{75CF63A9-CE67-4DB5-8BBF-8A8FF036B5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CC6DBE-F23E-4791-829D-944C85C1DF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7b1600b-1875-4cfe-bf63-0c9feabae465"/>
    <ds:schemaRef ds:uri="839308e8-cdc8-4e69-b65f-87a1d7161a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Bcone_Master_temp_16x9_heavy</Template>
  <TotalTime>5261</TotalTime>
  <Words>500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Title Slide and Thank You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Kumar Sharma</dc:creator>
  <cp:lastModifiedBy>Gowtham Balaji</cp:lastModifiedBy>
  <cp:revision>269</cp:revision>
  <dcterms:created xsi:type="dcterms:W3CDTF">2018-02-20T07:00:17Z</dcterms:created>
  <dcterms:modified xsi:type="dcterms:W3CDTF">2025-12-15T12:57:13Z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0x010100CB2C95AB2DD3794A8331DA0F58D260F7</vt:lpwstr>
  </property>
  <property fmtid="{D5CDD505-2E9C-101B-9397-08002B2CF9AE}" pid="3" name="_dlc_DocIdItemGuid">
    <vt:lpwstr>3c75e177-31db-4e84-8df5-0b89226c6caa</vt:lpwstr>
  </property>
</Properties>
</file>